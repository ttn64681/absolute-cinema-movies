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Cinema E-Booking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Deliverable 7 – Architecture &amp; OO Design</a:t>
            </a:r>
          </a:p>
          <a:p>
            <a:r>
              <a:t>Software Engineering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Stack &amp; Tooling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Frontend: Next.js 14 (React + TypeScript), Tailwind CSS, React Query, Context API</a:t>
            </a:r>
          </a:p>
          <a:p>
            <a:pPr>
              <a:defRPr sz="1800"/>
            </a:pPr>
            <a:r>
              <a:t>Backend: Spring Boot 3 (Java 17), Spring Security, Flyway, Maven Wrapper</a:t>
            </a:r>
          </a:p>
          <a:p>
            <a:pPr>
              <a:defRPr sz="1800"/>
            </a:pPr>
            <a:r>
              <a:t>Data &amp; Integration: PostgreSQL on Neon, JWT auth, REST/JSON over HTTPS, TanStack caching</a:t>
            </a:r>
          </a:p>
          <a:p>
            <a:pPr>
              <a:defRPr sz="1800"/>
            </a:pPr>
            <a:r>
              <a:t>Tooling: npm scripts, Maven, GitHub, automated backup scripts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Multi-Layer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Presentation tier: Next.js pages &amp; reusable components drive public, booking, auth, and admin UX</a:t>
            </a:r>
          </a:p>
          <a:p>
            <a:pPr>
              <a:defRPr sz="1800"/>
            </a:pPr>
            <a:r>
              <a:t>Client facades: Hooks (useUser, useMovies) + contexts hide tokens, caching, and filter state</a:t>
            </a:r>
          </a:p>
          <a:p>
            <a:pPr>
              <a:defRPr sz="1800"/>
            </a:pPr>
            <a:r>
              <a:t>API boundary: api.ts builds REST requests with JWT + CORS, mirroring backend resources</a:t>
            </a:r>
          </a:p>
          <a:p>
            <a:pPr>
              <a:defRPr sz="1800"/>
            </a:pPr>
            <a:r>
              <a:t>Server tiers: Controllers validate requests, services orchestrate scheduling/payments, repositories turn into JPA queries persisted in PostgreSQL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Decomposition &amp;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>
            <a:pPr>
              <a:defRPr sz="1800"/>
            </a:pPr>
            <a:r>
              <a:t>UX domains: Public browsing, booking wizard, user profile, and admin portal built from shared components</a:t>
            </a:r>
          </a:p>
          <a:p>
            <a:pPr>
              <a:defRPr sz="1800"/>
            </a:pPr>
            <a:r>
              <a:t>Backend subsystems: Catalog, scheduling, booking, payment, and user management services</a:t>
            </a:r>
          </a:p>
          <a:p>
            <a:pPr>
              <a:defRPr sz="1800"/>
            </a:pPr>
            <a:r>
              <a:t>Cross-cutting middleware: JwtAuthenticationFilter, cache config, notification/email services</a:t>
            </a:r>
          </a:p>
          <a:p>
            <a:pPr>
              <a:defRPr sz="1800"/>
            </a:pPr>
            <a:r>
              <a:t>Interaction path: Next.js contexts → API clients → Spring controllers → services → repositories → PostgreSQL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097280"/>
            <a:ext cx="1554480" cy="548640"/>
          </a:xfrm>
          <a:prstGeom prst="rect">
            <a:avLst/>
          </a:prstGeom>
          <a:solidFill>
            <a:srgbClr val="F0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920240"/>
            <a:ext cx="1554480" cy="548640"/>
          </a:xfrm>
          <a:prstGeom prst="rect">
            <a:avLst/>
          </a:prstGeom>
          <a:solidFill>
            <a:srgbClr val="F0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Next.js 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2743200"/>
            <a:ext cx="1554480" cy="548640"/>
          </a:xfrm>
          <a:prstGeom prst="rect">
            <a:avLst/>
          </a:prstGeom>
          <a:solidFill>
            <a:srgbClr val="F0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Hooks &amp; Contexts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3566160"/>
            <a:ext cx="1554480" cy="548640"/>
          </a:xfrm>
          <a:prstGeom prst="rect">
            <a:avLst/>
          </a:prstGeom>
          <a:solidFill>
            <a:srgbClr val="F0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API Client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920240"/>
            <a:ext cx="1554480" cy="548640"/>
          </a:xfrm>
          <a:prstGeom prst="rect">
            <a:avLst/>
          </a:prstGeom>
          <a:solidFill>
            <a:srgbClr val="F0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Controllers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2743200"/>
            <a:ext cx="1554480" cy="548640"/>
          </a:xfrm>
          <a:prstGeom prst="rect">
            <a:avLst/>
          </a:prstGeom>
          <a:solidFill>
            <a:srgbClr val="F0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Services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3566160"/>
            <a:ext cx="1554480" cy="548640"/>
          </a:xfrm>
          <a:prstGeom prst="rect">
            <a:avLst/>
          </a:prstGeom>
          <a:solidFill>
            <a:srgbClr val="F0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Repositories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4389120"/>
            <a:ext cx="1554480" cy="548640"/>
          </a:xfrm>
          <a:prstGeom prst="rect">
            <a:avLst/>
          </a:prstGeom>
          <a:solidFill>
            <a:srgbClr val="F0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PostgreSQL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5486400" y="1371600.0"/>
            <a:ext cx="1554480" cy="82296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5486400" y="2194560.0"/>
            <a:ext cx="1554480" cy="82296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486400" y="3017520.0"/>
            <a:ext cx="1554480" cy="82296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7040880" y="2194560.0"/>
            <a:ext cx="274320" cy="164592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7315200" y="2194560.0"/>
            <a:ext cx="1554480" cy="82296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7315200" y="3017520.0"/>
            <a:ext cx="1554480" cy="82296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7315200" y="3840480.0"/>
            <a:ext cx="1554480" cy="822960.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1 – Facade (useUser Hook)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>
            <a:pPr>
              <a:defRPr sz="1800"/>
            </a:pPr>
            <a:r>
              <a:t>Context: Profile, booking, and admin views all need consistent access to user data and mutations</a:t>
            </a:r>
          </a:p>
          <a:p>
            <a:pPr>
              <a:defRPr sz="1800"/>
            </a:pPr>
            <a:r>
              <a:t>Problem: Repeating fetch/token handling bloated UI components and created inconsistent error paths</a:t>
            </a:r>
          </a:p>
          <a:p>
            <a:pPr>
              <a:defRPr sz="1800"/>
            </a:pPr>
            <a:r>
              <a:t>Solution: useUser hook + AuthContext expose user, updateUser, updatePassword APIs while hiding JWT, URL, and caching logic</a:t>
            </a:r>
          </a:p>
          <a:p>
            <a:pPr>
              <a:defRPr sz="1800"/>
            </a:pPr>
            <a:r>
              <a:t>SOLID Impact: SRP for components, DIP via façade contract, consistent behavior across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1645920"/>
            <a:ext cx="1645920" cy="548640"/>
          </a:xfrm>
          <a:prstGeom prst="rect">
            <a:avLst/>
          </a:prstGeom>
          <a:solidFill>
            <a:srgbClr val="F9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ProfilePage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468880"/>
            <a:ext cx="1645920" cy="548640"/>
          </a:xfrm>
          <a:prstGeom prst="rect">
            <a:avLst/>
          </a:prstGeom>
          <a:solidFill>
            <a:srgbClr val="F9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BookingStep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3474720"/>
            <a:ext cx="1645920" cy="548640"/>
          </a:xfrm>
          <a:prstGeom prst="rect">
            <a:avLst/>
          </a:prstGeom>
          <a:solidFill>
            <a:srgbClr val="E6F4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useUser Facade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2468880"/>
            <a:ext cx="1645920" cy="548640"/>
          </a:xfrm>
          <a:prstGeom prst="rect">
            <a:avLst/>
          </a:prstGeom>
          <a:solidFill>
            <a:srgbClr val="F9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UserController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3291840"/>
            <a:ext cx="1645920" cy="548640"/>
          </a:xfrm>
          <a:prstGeom prst="rect">
            <a:avLst/>
          </a:prstGeom>
          <a:solidFill>
            <a:srgbClr val="F9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UserService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4114800"/>
            <a:ext cx="1645920" cy="548640"/>
          </a:xfrm>
          <a:prstGeom prst="rect">
            <a:avLst/>
          </a:prstGeom>
          <a:solidFill>
            <a:srgbClr val="F9F2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UserRepository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09360.0" y="2194560"/>
            <a:ext cx="0.0" cy="12801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309360.0" y="3017520"/>
            <a:ext cx="0.0" cy="45720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309360.0" y="2468880"/>
            <a:ext cx="1828800.0" cy="15544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138160.0" y="3017520"/>
            <a:ext cx="0.0" cy="2743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38160.0" y="3840480"/>
            <a:ext cx="0.0" cy="2743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2 – Decorator (SelectedMovie)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>
            <a:pPr>
              <a:defRPr sz="1800"/>
            </a:pPr>
            <a:r>
              <a:t>Context: SelectedMovie modal must switch CTAs for Now Playing vs Upcoming vs Premium runs</a:t>
            </a:r>
          </a:p>
          <a:p>
            <a:pPr>
              <a:defRPr sz="1800"/>
            </a:pPr>
            <a:r>
              <a:t>Problem: Conditional JSX inside SelectedMovie grows for every new status and risks regressions</a:t>
            </a:r>
          </a:p>
          <a:p>
            <a:pPr>
              <a:defRPr sz="1800"/>
            </a:pPr>
            <a:r>
              <a:t>Solution: Define MovieInfoComponent interface with base SelectedMovieInfo and decorators that add showtimes, booking button, or pre-order badges</a:t>
            </a:r>
          </a:p>
          <a:p>
            <a:pPr>
              <a:defRPr sz="1800"/>
            </a:pPr>
            <a:r>
              <a:t>SOLID Impact: Open/Closed via new decorators, SRP per behavior, consistent interface for SelectedMovie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0" y="1097280"/>
            <a:ext cx="1645920" cy="548640"/>
          </a:xfrm>
          <a:prstGeom prst="rect">
            <a:avLst/>
          </a:prstGeom>
          <a:solidFill>
            <a:srgbClr val="FFF5E6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MovieInfoComponent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920240"/>
            <a:ext cx="1645920" cy="548640"/>
          </a:xfrm>
          <a:prstGeom prst="rect">
            <a:avLst/>
          </a:prstGeom>
          <a:solidFill>
            <a:srgbClr val="FFF5E6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SelectedMovieInfo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0" y="1920240"/>
            <a:ext cx="1645920" cy="548640"/>
          </a:xfrm>
          <a:prstGeom prst="rect">
            <a:avLst/>
          </a:prstGeom>
          <a:solidFill>
            <a:srgbClr val="E8FBE8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MovieInfoDecorator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2834640"/>
            <a:ext cx="1645920" cy="548640"/>
          </a:xfrm>
          <a:prstGeom prst="rect">
            <a:avLst/>
          </a:prstGeom>
          <a:solidFill>
            <a:srgbClr val="E8FBE8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NowPlayingDecorator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834640"/>
            <a:ext cx="1645920" cy="548640"/>
          </a:xfrm>
          <a:prstGeom prst="rect">
            <a:avLst/>
          </a:prstGeom>
          <a:solidFill>
            <a:srgbClr val="E8FBE8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UpcomingDecorator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2834640"/>
            <a:ext cx="1645920" cy="548640"/>
          </a:xfrm>
          <a:prstGeom prst="rect">
            <a:avLst/>
          </a:prstGeom>
          <a:solidFill>
            <a:srgbClr val="E8FBE8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PremiumDecorator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6126480.0" y="1645920"/>
            <a:ext cx="640080.0" cy="2743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766560.0" y="1645920"/>
            <a:ext cx="640080.0" cy="2743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309360.0" y="2468880"/>
            <a:ext cx="1097280.0" cy="3657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06640.0" y="2468880"/>
            <a:ext cx="182880.0" cy="3657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06640.0" y="2468880"/>
            <a:ext cx="1463040.0" cy="36576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Pattern 3 – Protected Proxy (JWT Filter)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572000" cy="0"/>
          </a:xfrm>
        </p:spPr>
        <p:txBody>
          <a:bodyPr/>
          <a:lstStyle/>
          <a:p>
            <a:pPr>
              <a:defRPr sz="1800"/>
            </a:pPr>
            <a:r>
              <a:t>Context: Admin, payment, and booking APIs must reject unauthenticated or unauthorized calls</a:t>
            </a:r>
          </a:p>
          <a:p>
            <a:pPr>
              <a:defRPr sz="1800"/>
            </a:pPr>
            <a:r>
              <a:t>Problem: Duplicating guards inside every controller is error-prone and mixes concerns</a:t>
            </a:r>
          </a:p>
          <a:p>
            <a:pPr>
              <a:defRPr sz="1800"/>
            </a:pPr>
            <a:r>
              <a:t>Solution: JwtAuthenticationFilter + SecurityConfig intercept requests, validate JWTs, hydrate roles, then pass trusted calls to controllers</a:t>
            </a:r>
          </a:p>
          <a:p>
            <a:pPr>
              <a:defRPr sz="1800"/>
            </a:pPr>
            <a:r>
              <a:t>SOLID Impact: SRP for auth logic, Open/Closed for new roles/routes, DIP as controllers rely on SecurityContext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0" y="1463040"/>
            <a:ext cx="1828800" cy="548640"/>
          </a:xfrm>
          <a:prstGeom prst="rect">
            <a:avLst/>
          </a:prstGeom>
          <a:solidFill>
            <a:srgbClr val="EEF7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Client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2286000"/>
            <a:ext cx="1828800" cy="548640"/>
          </a:xfrm>
          <a:prstGeom prst="rect">
            <a:avLst/>
          </a:prstGeom>
          <a:solidFill>
            <a:srgbClr val="FFEEF0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JwtAuthenticationFilter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3108960"/>
            <a:ext cx="1828800" cy="548640"/>
          </a:xfrm>
          <a:prstGeom prst="rect">
            <a:avLst/>
          </a:prstGeom>
          <a:solidFill>
            <a:srgbClr val="FFEEF0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SecurityFilterChain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2103120"/>
            <a:ext cx="1828800" cy="548640"/>
          </a:xfrm>
          <a:prstGeom prst="rect">
            <a:avLst/>
          </a:prstGeom>
          <a:solidFill>
            <a:srgbClr val="EEF7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BookingController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0" y="2926080"/>
            <a:ext cx="1828800" cy="548640"/>
          </a:xfrm>
          <a:prstGeom prst="rect">
            <a:avLst/>
          </a:prstGeom>
          <a:solidFill>
            <a:srgbClr val="EEF7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AdminController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589520" y="3749039"/>
            <a:ext cx="1828800" cy="548640"/>
          </a:xfrm>
          <a:prstGeom prst="rect">
            <a:avLst/>
          </a:prstGeom>
          <a:solidFill>
            <a:srgbClr val="EEF7FF"/>
          </a:solidFill>
          <a:ln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BookingService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217920.0" y="2011680"/>
            <a:ext cx="0.0" cy="2743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217920.0" y="2834640"/>
            <a:ext cx="0.0" cy="2743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217920.0" y="2103120"/>
            <a:ext cx="2286000.0" cy="155448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6217920.0" y="2926080"/>
            <a:ext cx="2286000.0" cy="731520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03920.0" y="2651760"/>
            <a:ext cx="0.0" cy="1097279"/>
          </a:xfrm>
          <a:prstGeom prst="line">
            <a:avLst/>
          </a:prstGeom>
          <a:ln w="1905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Goals &amp; Quality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Maintainability: Separation of React views, hooks, controllers, services, repositories enables localized change</a:t>
            </a:r>
          </a:p>
          <a:p>
            <a:pPr>
              <a:defRPr sz="1800"/>
            </a:pPr>
            <a:r>
              <a:t>Usability &amp; Performance: Familiar cinema flows + React Query caching keep booking responsive</a:t>
            </a:r>
          </a:p>
          <a:p>
            <a:pPr>
              <a:defRPr sz="1800"/>
            </a:pPr>
            <a:r>
              <a:t>Security: Protected proxy, encrypted passwords, DTO boundaries, and role checks protect data</a:t>
            </a:r>
          </a:p>
          <a:p>
            <a:pPr>
              <a:defRPr sz="1800"/>
            </a:pPr>
            <a:r>
              <a:t>Reusability &amp; Scalability: Shared hooks/components and service interfaces enable future portals and integrations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